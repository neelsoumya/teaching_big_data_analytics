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30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1"/>
  </p:normalViewPr>
  <p:slideViewPr>
    <p:cSldViewPr snapToGrid="0" snapToObjects="1">
      <p:cViewPr varScale="1">
        <p:scale>
          <a:sx n="110" d="100"/>
          <a:sy n="110" d="100"/>
        </p:scale>
        <p:origin x="4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elsoumya/teaching_big_data_analytics/blob/main/practical_a_pandas.py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elsoumya/teaching_big_data_analytics/blob/main/practical_b_pyspark.py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Big Data Analytics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Soumya Banerjee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289CB-BE7A-946B-C81E-5A3992443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49490-792F-8A24-D071-86F88089D4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1: Week 1 — Introduction &amp; Data Life-cycle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55F08-DF0B-71EA-3EBF-62016C7E45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Definitions, types of big data, data stages, course overview</a:t>
            </a:r>
          </a:p>
        </p:txBody>
      </p:sp>
    </p:spTree>
    <p:extLst>
      <p:ext uri="{BB962C8B-B14F-4D97-AF65-F5344CB8AC3E}">
        <p14:creationId xmlns:p14="http://schemas.microsoft.com/office/powerpoint/2010/main" val="1590555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Understand the core concepts introduced in Week 1 — Introduction &amp; Data Life-cycle</a:t>
            </a:r>
          </a:p>
          <a:p>
            <a:r>
              <a:t>Be able to explain and contrast the main approaches</a:t>
            </a:r>
          </a:p>
          <a:p>
            <a:r>
              <a:t>Apply at least one practical technique in a lab setting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Definitions: Big Data vs 'large data'</a:t>
            </a:r>
          </a:p>
          <a:p>
            <a:r>
              <a:t>The data life-cycle (ingest→store→process→serve)</a:t>
            </a:r>
          </a:p>
          <a:p>
            <a:r>
              <a:t>Types: structured, unstructured, semi-structured</a:t>
            </a:r>
          </a:p>
          <a:p>
            <a:r>
              <a:t>Course structure &amp; assessments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/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Minute paper: list 2 questions you want answered</a:t>
            </a:r>
          </a:p>
          <a:p>
            <a:r>
              <a:t>Reading: course spec &amp; suggested intro chapters (McKinney)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2: Week 2 — Data Acquisition &amp; Storage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RDBMS vs NoSQL vs object stores; sharding &amp; partitioning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Understand the core concepts introduced in Week 2 — Data Acquisition &amp; Storage</a:t>
            </a:r>
          </a:p>
          <a:p>
            <a:r>
              <a:t>Be able to explain and contrast the main approaches</a:t>
            </a:r>
          </a:p>
          <a:p>
            <a:r>
              <a:t>Apply at least one practical technique in a lab setting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Relational databases recap</a:t>
            </a:r>
          </a:p>
          <a:p>
            <a:r>
              <a:rPr dirty="0"/>
              <a:t>NoSQL families: document, key-value, wide-column, graph</a:t>
            </a:r>
          </a:p>
          <a:p>
            <a:r>
              <a:rPr dirty="0"/>
              <a:t>Object stores and cold vs hot storage</a:t>
            </a:r>
          </a:p>
          <a:p>
            <a:r>
              <a:rPr dirty="0"/>
              <a:t>Sharding, replication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/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Quick group debate: choose storage for a logs system</a:t>
            </a:r>
          </a:p>
          <a:p>
            <a:r>
              <a:t>Reading: selected NoSQL primer (provided in resource list)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3: Week 3 — Data Pre-processing I (pandas &amp; pipelines)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Cleaning, missing data, type conversion, pipelines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Understand the core concepts introduced in Week 3 — Data Pre-processing I (pandas &amp; pipelines)</a:t>
            </a:r>
          </a:p>
          <a:p>
            <a:r>
              <a:t>Be able to explain and contrast the main approaches</a:t>
            </a:r>
          </a:p>
          <a:p>
            <a:r>
              <a:t>Apply at least one practical technique in a lab setting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Pandas basics for large-ish tables</a:t>
            </a:r>
          </a:p>
          <a:p>
            <a:r>
              <a:t>Handling missing values &amp; types</a:t>
            </a:r>
          </a:p>
          <a:p>
            <a:r>
              <a:t>Vectorised operations &amp; pipelines</a:t>
            </a:r>
          </a:p>
          <a:p>
            <a:r>
              <a:t>Performance tips (dtypes, categorical)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/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Lab: pandas cleaning practical (submit 1-page summary)</a:t>
            </a:r>
          </a:p>
          <a:p>
            <a:r>
              <a:rPr dirty="0"/>
              <a:t>Notebook: </a:t>
            </a:r>
            <a:r>
              <a:rPr dirty="0" err="1"/>
              <a:t>practical_a_pandas.ipynb</a:t>
            </a:r>
            <a:r>
              <a:rPr dirty="0"/>
              <a:t> (provided)</a:t>
            </a:r>
            <a:endParaRPr lang="en-GB" dirty="0"/>
          </a:p>
          <a:p>
            <a:r>
              <a:rPr lang="en-GB" dirty="0">
                <a:hlinkClick r:id="rId2"/>
              </a:rPr>
              <a:t>https://github.com/neelsoumya/teaching_big_data_analytics/blob/main/practical_a_pandas.py</a:t>
            </a:r>
            <a:endParaRPr lang="en-GB" dirty="0"/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4: Week 4 — Data Pre-processing II (ETL &amp; Streaming)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Batch vs streaming, ETL patterns, data locality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Understand the core concepts introduced in Week 4 </a:t>
            </a:r>
            <a:r>
              <a:rPr lang="en-GB" dirty="0"/>
              <a:t>:</a:t>
            </a:r>
            <a:r>
              <a:rPr dirty="0"/>
              <a:t> Data Pre-processing II (ETL &amp; Streaming)</a:t>
            </a:r>
          </a:p>
          <a:p>
            <a:r>
              <a:rPr dirty="0"/>
              <a:t>Be able to explain and contrast the main approaches</a:t>
            </a:r>
          </a:p>
          <a:p>
            <a:r>
              <a:rPr dirty="0"/>
              <a:t>Apply at least one practical technique in a lab setting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ETL design patterns</a:t>
            </a:r>
          </a:p>
          <a:p>
            <a:r>
              <a:t>Batch vs Stream processing</a:t>
            </a:r>
          </a:p>
          <a:p>
            <a:r>
              <a:t>Tools: Airflow, Kafka (intro)</a:t>
            </a:r>
          </a:p>
          <a:p>
            <a:r>
              <a:t>Data locality &amp; checkpointing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/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Design: mini ETL sketch for given dataset</a:t>
            </a:r>
          </a:p>
          <a:p>
            <a:r>
              <a:t>Reading: streaming patterns summary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5: Week 5 — Exploratory Data Analysis &amp;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Aggregation, grouping, visualization for big datasets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Understand the core concepts introduced in Week 5 — Exploratory Data Analysis &amp; Visualization</a:t>
            </a:r>
          </a:p>
          <a:p>
            <a:r>
              <a:t>Be able to explain and contrast the main approaches</a:t>
            </a:r>
          </a:p>
          <a:p>
            <a:r>
              <a:t>Apply at least one practical technique in a lab setting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Aggregation patterns and group-</a:t>
            </a:r>
            <a:r>
              <a:rPr dirty="0" err="1"/>
              <a:t>bys</a:t>
            </a:r>
            <a:endParaRPr dirty="0"/>
          </a:p>
          <a:p>
            <a:r>
              <a:rPr dirty="0" err="1"/>
              <a:t>Downsampling</a:t>
            </a:r>
            <a:r>
              <a:rPr dirty="0"/>
              <a:t> &amp; sketching for EDA</a:t>
            </a:r>
          </a:p>
          <a:p>
            <a:r>
              <a:rPr dirty="0"/>
              <a:t>Effective </a:t>
            </a:r>
            <a:r>
              <a:rPr dirty="0" err="1"/>
              <a:t>visualisations</a:t>
            </a:r>
            <a:r>
              <a:rPr dirty="0"/>
              <a:t> for large data</a:t>
            </a:r>
          </a:p>
          <a:p>
            <a:r>
              <a:rPr dirty="0"/>
              <a:t>Interactive vs static plots</a:t>
            </a:r>
            <a:endParaRPr lang="en-GB" dirty="0"/>
          </a:p>
          <a:p>
            <a:r>
              <a:rPr lang="en-GB" dirty="0" err="1"/>
              <a:t>Practicals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/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In-class: build dashboard sketch</a:t>
            </a:r>
          </a:p>
          <a:p>
            <a:r>
              <a:rPr dirty="0"/>
              <a:t>Reading: visualization best practices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BD7877-84F3-53E4-73E2-D89C256A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hart with a graph and text&#10;&#10;Description automatically generated with medium confidence">
            <a:extLst>
              <a:ext uri="{FF2B5EF4-FFF2-40B4-BE49-F238E27FC236}">
                <a16:creationId xmlns:a16="http://schemas.microsoft.com/office/drawing/2014/main" id="{66F96AF6-E567-B963-CEA8-483065E05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449731"/>
            <a:ext cx="8178799" cy="395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39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Lecture 6: Week 6 </a:t>
            </a:r>
            <a:r>
              <a:rPr lang="en-GB" dirty="0"/>
              <a:t>:</a:t>
            </a:r>
            <a:r>
              <a:rPr dirty="0"/>
              <a:t> Legal &amp; Ethical Issues in Big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GDPR, privacy, bias, provenance, governance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Understand the core concepts introduced in Week 6 </a:t>
            </a:r>
            <a:r>
              <a:rPr lang="en-GB" dirty="0"/>
              <a:t>:</a:t>
            </a:r>
            <a:r>
              <a:rPr dirty="0"/>
              <a:t> Legal &amp; Ethical Issues in Big Data</a:t>
            </a:r>
          </a:p>
          <a:p>
            <a:r>
              <a:rPr dirty="0"/>
              <a:t>Be able to explain and contrast the main approaches</a:t>
            </a:r>
          </a:p>
          <a:p>
            <a:r>
              <a:rPr dirty="0"/>
              <a:t>Apply at least one practical technique in a lab setting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Legal basics: GDPR principles</a:t>
            </a:r>
          </a:p>
          <a:p>
            <a:r>
              <a:t>Privacy-by-design and data minimisation</a:t>
            </a:r>
          </a:p>
          <a:p>
            <a:r>
              <a:t>Bias, fairness, and provenance</a:t>
            </a:r>
          </a:p>
          <a:p>
            <a:r>
              <a:t>Security and access controls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/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Case study: re-identification risk analysis</a:t>
            </a:r>
          </a:p>
          <a:p>
            <a:r>
              <a:t>Submit short mitigation plan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7: Week 7 — MapReduce Fundamentals &amp; Hadoop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Map/reduce flow, combiner, partitioner, practical examples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Understand the core concepts introduced in Week 7 </a:t>
            </a:r>
            <a:r>
              <a:rPr lang="en-GB" dirty="0"/>
              <a:t>:</a:t>
            </a:r>
            <a:r>
              <a:rPr dirty="0"/>
              <a:t> MapReduce Fundamentals &amp; Hadoop</a:t>
            </a:r>
          </a:p>
          <a:p>
            <a:r>
              <a:rPr dirty="0"/>
              <a:t>Be able to explain and contrast the main approaches</a:t>
            </a:r>
          </a:p>
          <a:p>
            <a:r>
              <a:rPr dirty="0"/>
              <a:t>Apply at least one practical technique in a lab setting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Map and Reduce primitives</a:t>
            </a:r>
          </a:p>
          <a:p>
            <a:r>
              <a:t>Role of the combiner &amp; partitioner</a:t>
            </a:r>
          </a:p>
          <a:p>
            <a:r>
              <a:t>Hadoop architecture overview</a:t>
            </a:r>
          </a:p>
          <a:p>
            <a:r>
              <a:t>When MapReduce is a good choice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/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Hands-on: MapReduce pseudocode exercise</a:t>
            </a:r>
          </a:p>
          <a:p>
            <a:r>
              <a:t>Reading: Hadoop design paper (extract)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8: Week 8 — Spark &amp; Distributed Computation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RDDs, DataFrames, transformations/actions, tuning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Understand the core concepts introduced in Week 8</a:t>
            </a:r>
            <a:r>
              <a:rPr lang="en-GB" dirty="0"/>
              <a:t>:</a:t>
            </a:r>
            <a:r>
              <a:rPr dirty="0"/>
              <a:t> Spark &amp; Distributed Computation</a:t>
            </a:r>
          </a:p>
          <a:p>
            <a:r>
              <a:rPr dirty="0"/>
              <a:t>Be able to explain and contrast the main approaches</a:t>
            </a:r>
          </a:p>
          <a:p>
            <a:r>
              <a:rPr dirty="0"/>
              <a:t>Apply at least one practical technique in a lab setting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Spark architecture &amp; execution model</a:t>
            </a:r>
          </a:p>
          <a:p>
            <a:r>
              <a:t>RDD vs DataFrame API</a:t>
            </a:r>
          </a:p>
          <a:p>
            <a:r>
              <a:t>Narrow vs wide dependencies</a:t>
            </a:r>
          </a:p>
          <a:p>
            <a:r>
              <a:t>Performance tuning: partitions, caching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/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Lab: </a:t>
            </a:r>
            <a:r>
              <a:rPr dirty="0" err="1"/>
              <a:t>PySpark</a:t>
            </a:r>
            <a:r>
              <a:rPr dirty="0"/>
              <a:t> tuning tasks (</a:t>
            </a:r>
            <a:r>
              <a:rPr dirty="0" err="1"/>
              <a:t>practical_b_pyspark.ipynb</a:t>
            </a:r>
            <a:r>
              <a:rPr dirty="0"/>
              <a:t>)</a:t>
            </a:r>
          </a:p>
          <a:p>
            <a:r>
              <a:rPr dirty="0"/>
              <a:t>Experiment: vary shuffle partitions</a:t>
            </a:r>
            <a:endParaRPr lang="en-GB" dirty="0"/>
          </a:p>
          <a:p>
            <a:r>
              <a:rPr lang="en-GB" dirty="0">
                <a:hlinkClick r:id="rId2"/>
              </a:rPr>
              <a:t>https://github.com/neelsoumya/teaching_big_data_analytics/blob/main/practical_b_pyspark.py</a:t>
            </a:r>
            <a:endParaRPr lang="en-GB" dirty="0"/>
          </a:p>
          <a:p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Lecture 9: Week 9 </a:t>
            </a:r>
            <a:r>
              <a:rPr lang="en-GB" dirty="0"/>
              <a:t>:</a:t>
            </a:r>
            <a:r>
              <a:rPr dirty="0"/>
              <a:t> Graph Theory &amp; Network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Centrality, community detection, random walks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Understand the core concepts introduced in Week 9 </a:t>
            </a:r>
            <a:r>
              <a:rPr lang="en-GB" dirty="0"/>
              <a:t>:</a:t>
            </a:r>
            <a:r>
              <a:rPr dirty="0"/>
              <a:t> Graph Theory &amp; Network Analysis</a:t>
            </a:r>
          </a:p>
          <a:p>
            <a:r>
              <a:rPr dirty="0"/>
              <a:t>Be able to explain and contrast the main approaches</a:t>
            </a:r>
          </a:p>
          <a:p>
            <a:r>
              <a:rPr dirty="0"/>
              <a:t>Apply at least one practical technique in a lab setting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Graph representations (adj list/matrix)</a:t>
            </a:r>
          </a:p>
          <a:p>
            <a:r>
              <a:t>Degree, betweenness, closeness, PageRank</a:t>
            </a:r>
          </a:p>
          <a:p>
            <a:r>
              <a:t>Community detection (Louvaine)</a:t>
            </a:r>
          </a:p>
          <a:p>
            <a:r>
              <a:t>Random walks intuition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/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Lab: NetworkX metrics and interpretation</a:t>
            </a:r>
          </a:p>
          <a:p>
            <a:r>
              <a:t>Reading: network analysis primer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Lecture 10: Week 10 </a:t>
            </a:r>
            <a:r>
              <a:rPr lang="en-GB" dirty="0"/>
              <a:t>:</a:t>
            </a:r>
            <a:r>
              <a:rPr dirty="0"/>
              <a:t> Graph Analytics at Scale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GraphFrames, Neo4j overview, use cases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Understand the core concepts introduced in Week 10 </a:t>
            </a:r>
            <a:r>
              <a:rPr lang="en-GB" dirty="0"/>
              <a:t>:</a:t>
            </a:r>
            <a:r>
              <a:rPr dirty="0"/>
              <a:t> Graph Analytics at Scale</a:t>
            </a:r>
          </a:p>
          <a:p>
            <a:r>
              <a:rPr dirty="0"/>
              <a:t>Be able to explain and contrast the main approaches</a:t>
            </a:r>
          </a:p>
          <a:p>
            <a:r>
              <a:rPr dirty="0"/>
              <a:t>Apply at least one practical technique in a lab setting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Scaling graph analytics (GraphFrames)</a:t>
            </a:r>
          </a:p>
          <a:p>
            <a:r>
              <a:t>Neo4j and property graphs</a:t>
            </a:r>
          </a:p>
          <a:p>
            <a:r>
              <a:t>Use-cases: recommender systems, knowledge graphs</a:t>
            </a:r>
          </a:p>
          <a:p>
            <a:r>
              <a:t>Indexing &amp; query strategies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/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Design: graph-backed feature for a recommender</a:t>
            </a:r>
          </a:p>
          <a:p>
            <a:r>
              <a:t>Demo: Neo4j cypher examples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11: Week 11 — ML at Scale &amp; Feature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Decision trees, distributed training, feature stores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Understand the core concepts introduced in Week 11 — ML at Scale &amp; Feature Engineering</a:t>
            </a:r>
          </a:p>
          <a:p>
            <a:r>
              <a:t>Be able to explain and contrast the main approaches</a:t>
            </a:r>
          </a:p>
          <a:p>
            <a:r>
              <a:t>Apply at least one practical technique in a lab setting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Feature engineering at scale</a:t>
            </a:r>
          </a:p>
          <a:p>
            <a:r>
              <a:t>Distributed training basics</a:t>
            </a:r>
          </a:p>
          <a:p>
            <a:r>
              <a:t>Model serving and feature stores</a:t>
            </a:r>
          </a:p>
          <a:p>
            <a:r>
              <a:t>Model monitoring &amp; drift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/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Mini-project: sketch scalable training pipeline</a:t>
            </a:r>
          </a:p>
          <a:p>
            <a:r>
              <a:t>Reading: feature store concepts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Lecture 12: Week 12 — Maintenance, Reproducibility &amp; Future Trends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Monitoring, pipelines, reproducibility, data meshes and trends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Understand the core concepts introduced in Week 12 — Maintenance, Reproducibility &amp; Future Trends</a:t>
            </a:r>
          </a:p>
          <a:p>
            <a:r>
              <a:t>Be able to explain and contrast the main approaches</a:t>
            </a:r>
          </a:p>
          <a:p>
            <a:r>
              <a:t>Apply at least one practical technique in a lab setting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Reproducibility: environments and pipelines</a:t>
            </a:r>
          </a:p>
          <a:p>
            <a:r>
              <a:t>Monitoring &amp; observability of pipelines</a:t>
            </a:r>
          </a:p>
          <a:p>
            <a:r>
              <a:t>Emerging trends: data mesh, lakehouse</a:t>
            </a:r>
          </a:p>
          <a:p>
            <a:r>
              <a:t>Course wrap-up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/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Final presentations (Week 12 demo slots)</a:t>
            </a:r>
          </a:p>
          <a:p>
            <a:r>
              <a:t>Submit reflections and course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1214</Words>
  <Application>Microsoft Macintosh PowerPoint</Application>
  <PresentationFormat>On-screen Show (4:3)</PresentationFormat>
  <Paragraphs>209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Big Data Analytics</vt:lpstr>
      <vt:lpstr>Lecture 1: Week 1 — Introduction &amp; Data Life-cycle</vt:lpstr>
      <vt:lpstr>Learning Objectives</vt:lpstr>
      <vt:lpstr>Key Topics</vt:lpstr>
      <vt:lpstr>Activity / Readings</vt:lpstr>
      <vt:lpstr>Lecture 2: Week 2 — Data Acquisition &amp; Storage</vt:lpstr>
      <vt:lpstr>Learning Objectives</vt:lpstr>
      <vt:lpstr>Key Topics</vt:lpstr>
      <vt:lpstr>Activity / Readings</vt:lpstr>
      <vt:lpstr>Lecture 3: Week 3 — Data Pre-processing I (pandas &amp; pipelines)</vt:lpstr>
      <vt:lpstr>Learning Objectives</vt:lpstr>
      <vt:lpstr>Key Topics</vt:lpstr>
      <vt:lpstr>Activity / Readings</vt:lpstr>
      <vt:lpstr>Lecture 4: Week 4 — Data Pre-processing II (ETL &amp; Streaming)</vt:lpstr>
      <vt:lpstr>Learning Objectives</vt:lpstr>
      <vt:lpstr>Key Topics</vt:lpstr>
      <vt:lpstr>Activity / Readings</vt:lpstr>
      <vt:lpstr>Lecture 5: Week 5 — Exploratory Data Analysis &amp; Visualization</vt:lpstr>
      <vt:lpstr>Learning Objectives</vt:lpstr>
      <vt:lpstr>Key Topics</vt:lpstr>
      <vt:lpstr>Activity / Readings</vt:lpstr>
      <vt:lpstr>PowerPoint Presentation</vt:lpstr>
      <vt:lpstr>Lecture 6: Week 6 : Legal &amp; Ethical Issues in Big Data</vt:lpstr>
      <vt:lpstr>Learning Objectives</vt:lpstr>
      <vt:lpstr>Key Topics</vt:lpstr>
      <vt:lpstr>Activity / Readings</vt:lpstr>
      <vt:lpstr>Lecture 7: Week 7 — MapReduce Fundamentals &amp; Hadoop</vt:lpstr>
      <vt:lpstr>Learning Objectives</vt:lpstr>
      <vt:lpstr>Key Topics</vt:lpstr>
      <vt:lpstr>Activity / Readings</vt:lpstr>
      <vt:lpstr>Lecture 8: Week 8 — Spark &amp; Distributed Computation</vt:lpstr>
      <vt:lpstr>Learning Objectives</vt:lpstr>
      <vt:lpstr>Key Topics</vt:lpstr>
      <vt:lpstr>Activity / Readings</vt:lpstr>
      <vt:lpstr>Lecture 9: Week 9 : Graph Theory &amp; Network Analysis</vt:lpstr>
      <vt:lpstr>Learning Objectives</vt:lpstr>
      <vt:lpstr>Key Topics</vt:lpstr>
      <vt:lpstr>Activity / Readings</vt:lpstr>
      <vt:lpstr>Lecture 10: Week 10 : Graph Analytics at Scale</vt:lpstr>
      <vt:lpstr>Learning Objectives</vt:lpstr>
      <vt:lpstr>Key Topics</vt:lpstr>
      <vt:lpstr>Activity / Readings</vt:lpstr>
      <vt:lpstr>Lecture 11: Week 11 — ML at Scale &amp; Feature Engineering</vt:lpstr>
      <vt:lpstr>Learning Objectives</vt:lpstr>
      <vt:lpstr>Key Topics</vt:lpstr>
      <vt:lpstr>Activity / Readings</vt:lpstr>
      <vt:lpstr>Lecture 12: Week 12 — Maintenance, Reproducibility &amp; Future Trends</vt:lpstr>
      <vt:lpstr>Learning Objectives</vt:lpstr>
      <vt:lpstr>Key Topics</vt:lpstr>
      <vt:lpstr>Activity / Readings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Soumya Banerjee</cp:lastModifiedBy>
  <cp:revision>14</cp:revision>
  <dcterms:created xsi:type="dcterms:W3CDTF">2013-01-27T09:14:16Z</dcterms:created>
  <dcterms:modified xsi:type="dcterms:W3CDTF">2025-11-05T09:11:33Z</dcterms:modified>
  <cp:category/>
</cp:coreProperties>
</file>